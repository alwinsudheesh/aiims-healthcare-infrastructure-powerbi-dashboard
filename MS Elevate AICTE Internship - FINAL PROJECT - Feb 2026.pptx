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82" d="100"/>
          <a:sy n="82" d="100"/>
        </p:scale>
        <p:origin x="691" y="77"/>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06-03-2026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06-03-2026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lwinsudheesh/AIIMS-Healthcare-Infrastructure-PowerBI-Dashboard/blob/main/AIIMS_Healthcare_Infrastructure_Dashboard.pbix" TargetMode="External"/><Relationship Id="rId2" Type="http://schemas.openxmlformats.org/officeDocument/2006/relationships/hyperlink" Target="https://ndap.niti.gov.in/"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94127" y="879545"/>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2800" b="1" dirty="0"/>
              <a:t>Healthcare Infrastructure Analytics of AIIMS Hospitals in India Using Power BI</a:t>
            </a:r>
            <a:endParaRPr lang="en-US" sz="28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22915"/>
            <a:ext cx="4166512" cy="1932512"/>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ALWIN SUDHEESH</a:t>
            </a:r>
          </a:p>
          <a:p>
            <a:pPr algn="l">
              <a:spcAft>
                <a:spcPts val="600"/>
              </a:spcAft>
            </a:pPr>
            <a:r>
              <a:rPr lang="en-US" sz="1600" b="1" cap="all" dirty="0"/>
              <a:t>College Name: INDIRA GANDHI                                NATIONAL OPEN UNIVERSIRTY,  </a:t>
            </a:r>
            <a:r>
              <a:rPr lang="en-US" sz="1600" b="1" cap="all" dirty="0" err="1"/>
              <a:t>COchin</a:t>
            </a:r>
            <a:endParaRPr lang="en-US" sz="1600" b="1" cap="all" dirty="0"/>
          </a:p>
          <a:p>
            <a:pPr algn="l">
              <a:spcAft>
                <a:spcPts val="600"/>
              </a:spcAft>
            </a:pPr>
            <a:r>
              <a:rPr lang="en-US" sz="1600" b="1" cap="all" dirty="0"/>
              <a:t>Department: Commerce , BCOMF</a:t>
            </a:r>
          </a:p>
          <a:p>
            <a:pPr algn="l">
              <a:spcAft>
                <a:spcPts val="600"/>
              </a:spcAft>
            </a:pPr>
            <a:r>
              <a:rPr lang="en-US" sz="1600" b="1" cap="all" dirty="0"/>
              <a:t>Email ID: alwinsudheesh@gmail.com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D5DB683F-B0FB-E929-AA2C-8AA5A1ED02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2954" y="605878"/>
            <a:ext cx="4153273" cy="5339922"/>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2400" dirty="0"/>
              <a:t>Healthcare infrastructure plays a crucial role in delivering quality medical services. Government hospitals such as AIIMS must effectively manage and monitor critical resources such as ICU beds, oxygen beds, and operational hospital beds. However, analyzing raw infrastructure data across multiple hospitals can be difficult and time-consuming. Without proper visualization, it becomes challenging for administrators to identify hospital capacity, compare infrastructure levels, and make data-driven decisions.</a:t>
            </a:r>
          </a:p>
          <a:p>
            <a:pPr marL="0" indent="0">
              <a:buNone/>
            </a:pPr>
            <a:r>
              <a:rPr lang="en-US" sz="2400" dirty="0"/>
              <a:t>Therefore, there is a need for an analytical dashboard that can visually present healthcare infrastructure data for better understanding and decision-making.</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r>
              <a:rPr lang="en-US" sz="2400" dirty="0"/>
              <a:t>The proposed solution is to develop a </a:t>
            </a:r>
            <a:r>
              <a:rPr lang="en-US" sz="2400" b="1" dirty="0"/>
              <a:t>Power BI dashboard</a:t>
            </a:r>
            <a:r>
              <a:rPr lang="en-US" sz="2400" dirty="0"/>
              <a:t> that analyzes healthcare infrastructure data of AIIMS hospitals across India.</a:t>
            </a:r>
          </a:p>
          <a:p>
            <a:r>
              <a:rPr lang="en-US" sz="2400" dirty="0"/>
              <a:t>The dashboard provides:</a:t>
            </a:r>
          </a:p>
          <a:p>
            <a:r>
              <a:rPr lang="en-US" sz="2400" dirty="0"/>
              <a:t>Summary metrics of ICU beds, oxygen beds, and operational beds</a:t>
            </a:r>
          </a:p>
          <a:p>
            <a:r>
              <a:rPr lang="en-US" sz="2400" dirty="0"/>
              <a:t>Hospital-wise infrastructure comparison</a:t>
            </a:r>
          </a:p>
          <a:p>
            <a:r>
              <a:rPr lang="en-US" sz="2400" dirty="0"/>
              <a:t>Distribution of critical care and oxygen bed capacity</a:t>
            </a:r>
          </a:p>
          <a:p>
            <a:r>
              <a:rPr lang="en-US" sz="2400" dirty="0"/>
              <a:t>Interactive filtering for individual hospitals</a:t>
            </a:r>
          </a:p>
          <a:p>
            <a:r>
              <a:rPr lang="en-US" sz="2400" dirty="0"/>
              <a:t>Visual insights to support healthcare infrastructure planning</a:t>
            </a:r>
          </a:p>
          <a:p>
            <a:r>
              <a:rPr lang="en-US" sz="2400" dirty="0"/>
              <a:t>This dashboard helps stakeholders easily analyze and interpret hospital infrastructure data.</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576873"/>
            <a:ext cx="10515600" cy="4390673"/>
          </a:xfrm>
        </p:spPr>
        <p:txBody>
          <a:bodyPr vert="horz" lIns="91440" tIns="45720" rIns="91440" bIns="45720" rtlCol="0">
            <a:normAutofit fontScale="85000" lnSpcReduction="20000"/>
          </a:bodyPr>
          <a:lstStyle/>
          <a:p>
            <a:r>
              <a:rPr lang="en-IN" sz="2400" dirty="0"/>
              <a:t>The system was developed using </a:t>
            </a:r>
            <a:r>
              <a:rPr lang="en-IN" sz="2400" b="1" dirty="0"/>
              <a:t>Microsoft Power BI</a:t>
            </a:r>
            <a:r>
              <a:rPr lang="en-IN" sz="2400" dirty="0"/>
              <a:t>, a powerful data visualization and business intelligence tool.</a:t>
            </a:r>
            <a:br>
              <a:rPr lang="en-IN" sz="2400" dirty="0"/>
            </a:br>
            <a:endParaRPr lang="en-IN" sz="2400" dirty="0"/>
          </a:p>
          <a:p>
            <a:pPr marL="0" indent="0">
              <a:buNone/>
            </a:pPr>
            <a:r>
              <a:rPr lang="en-IN" sz="2400" b="1" u="sng" dirty="0"/>
              <a:t>Tools and Technologies Used</a:t>
            </a:r>
          </a:p>
          <a:p>
            <a:r>
              <a:rPr lang="en-IN" sz="2400" b="1" dirty="0"/>
              <a:t>Microsoft Power BI Desktop</a:t>
            </a:r>
            <a:endParaRPr lang="en-IN" sz="2400" dirty="0"/>
          </a:p>
          <a:p>
            <a:r>
              <a:rPr lang="en-IN" sz="2400" b="1" dirty="0"/>
              <a:t>Power Query</a:t>
            </a:r>
            <a:r>
              <a:rPr lang="en-IN" sz="2400" dirty="0"/>
              <a:t> for data transformation and cleaning</a:t>
            </a:r>
          </a:p>
          <a:p>
            <a:r>
              <a:rPr lang="en-IN" sz="2400" b="1" dirty="0"/>
              <a:t>DAX (Data Analysis Expressions)</a:t>
            </a:r>
            <a:r>
              <a:rPr lang="en-IN" sz="2400" dirty="0"/>
              <a:t> for creating calculated measures</a:t>
            </a:r>
          </a:p>
          <a:p>
            <a:r>
              <a:rPr lang="en-IN" sz="2400" b="1" dirty="0"/>
              <a:t>Data Visualization techniques</a:t>
            </a:r>
            <a:r>
              <a:rPr lang="en-IN" sz="2400" dirty="0"/>
              <a:t> such as bar charts, donut charts, and KPI cards</a:t>
            </a:r>
            <a:br>
              <a:rPr lang="en-IN" sz="2400" dirty="0"/>
            </a:br>
            <a:endParaRPr lang="en-IN" sz="2400" dirty="0"/>
          </a:p>
          <a:p>
            <a:pPr marL="0" indent="0">
              <a:buNone/>
            </a:pPr>
            <a:r>
              <a:rPr lang="en-IN" sz="2400" b="1" u="sng" dirty="0"/>
              <a:t>System Requirements</a:t>
            </a:r>
          </a:p>
          <a:p>
            <a:r>
              <a:rPr lang="en-IN" sz="2400" dirty="0"/>
              <a:t>Power BI Desktop</a:t>
            </a:r>
          </a:p>
          <a:p>
            <a:r>
              <a:rPr lang="en-US" sz="2400" dirty="0"/>
              <a:t>Operationalization of dedicated hospital beds, and beds with ventilators</a:t>
            </a:r>
            <a:r>
              <a:rPr lang="en-US" sz="2400" b="1" dirty="0"/>
              <a:t> </a:t>
            </a:r>
            <a:r>
              <a:rPr lang="en-IN" sz="2400" dirty="0"/>
              <a:t>dataset</a:t>
            </a:r>
          </a:p>
          <a:p>
            <a:r>
              <a:rPr lang="en-IN" sz="2400" dirty="0"/>
              <a:t>Windows operating system</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fontScale="77500" lnSpcReduction="20000"/>
          </a:bodyPr>
          <a:lstStyle/>
          <a:p>
            <a:pPr marL="0" indent="0">
              <a:buNone/>
            </a:pPr>
            <a:r>
              <a:rPr lang="en-US" b="1" dirty="0"/>
              <a:t>The following steps were followed to develop the dashboard</a:t>
            </a:r>
            <a:r>
              <a:rPr lang="en-US" dirty="0"/>
              <a:t>:</a:t>
            </a:r>
          </a:p>
          <a:p>
            <a:pPr marL="514350" indent="-514350">
              <a:buFont typeface="+mj-lt"/>
              <a:buAutoNum type="arabicPeriod"/>
            </a:pPr>
            <a:r>
              <a:rPr lang="en-US" dirty="0"/>
              <a:t>Import the Operationalization of dedicated hospital beds, and beds with ventilators into Power BI.</a:t>
            </a:r>
          </a:p>
          <a:p>
            <a:pPr marL="514350" indent="-514350">
              <a:buFont typeface="+mj-lt"/>
              <a:buAutoNum type="arabicPeriod"/>
            </a:pPr>
            <a:r>
              <a:rPr lang="en-US" dirty="0"/>
              <a:t>Perform data cleaning and transformation using </a:t>
            </a:r>
            <a:r>
              <a:rPr lang="en-US" b="1" dirty="0"/>
              <a:t>Power Query</a:t>
            </a:r>
            <a:r>
              <a:rPr lang="en-US" dirty="0"/>
              <a:t>.</a:t>
            </a:r>
          </a:p>
          <a:p>
            <a:pPr marL="514350" indent="-514350">
              <a:buFont typeface="+mj-lt"/>
              <a:buAutoNum type="arabicPeriod"/>
            </a:pPr>
            <a:r>
              <a:rPr lang="en-US" dirty="0"/>
              <a:t>Create calculated measures using </a:t>
            </a:r>
            <a:r>
              <a:rPr lang="en-US" b="1" dirty="0"/>
              <a:t>DAX functions</a:t>
            </a:r>
            <a:r>
              <a:rPr lang="en-US" dirty="0"/>
              <a:t> to compute totals and key metrics.</a:t>
            </a:r>
          </a:p>
          <a:p>
            <a:pPr marL="514350" indent="-514350">
              <a:buFont typeface="+mj-lt"/>
              <a:buAutoNum type="arabicPeriod"/>
            </a:pPr>
            <a:r>
              <a:rPr lang="en-US" dirty="0"/>
              <a:t>Design interactive visualizations including:</a:t>
            </a:r>
          </a:p>
          <a:p>
            <a:pPr marL="914400" lvl="1" indent="-457200">
              <a:buFont typeface="+mj-lt"/>
              <a:buAutoNum type="arabicPeriod"/>
            </a:pPr>
            <a:r>
              <a:rPr lang="en-US" dirty="0"/>
              <a:t>KPI cards</a:t>
            </a:r>
          </a:p>
          <a:p>
            <a:pPr marL="914400" lvl="1" indent="-457200">
              <a:buFont typeface="+mj-lt"/>
              <a:buAutoNum type="arabicPeriod"/>
            </a:pPr>
            <a:r>
              <a:rPr lang="en-US" dirty="0"/>
              <a:t>Bar charts</a:t>
            </a:r>
          </a:p>
          <a:p>
            <a:pPr marL="914400" lvl="1" indent="-457200">
              <a:buFont typeface="+mj-lt"/>
              <a:buAutoNum type="arabicPeriod"/>
            </a:pPr>
            <a:r>
              <a:rPr lang="en-US" dirty="0"/>
              <a:t>Donut charts</a:t>
            </a:r>
          </a:p>
          <a:p>
            <a:pPr marL="914400" lvl="1" indent="-457200">
              <a:buFont typeface="+mj-lt"/>
              <a:buAutoNum type="arabicPeriod"/>
            </a:pPr>
            <a:r>
              <a:rPr lang="en-US" dirty="0"/>
              <a:t>Data tables</a:t>
            </a:r>
          </a:p>
          <a:p>
            <a:pPr marL="514350" indent="-514350">
              <a:buFont typeface="+mj-lt"/>
              <a:buAutoNum type="arabicPeriod"/>
            </a:pPr>
            <a:r>
              <a:rPr lang="en-US" dirty="0"/>
              <a:t>Add slicers to enable interactive filtering by hospital.</a:t>
            </a:r>
          </a:p>
          <a:p>
            <a:pPr marL="514350" indent="-514350">
              <a:buFont typeface="+mj-lt"/>
              <a:buAutoNum type="arabicPeriod"/>
            </a:pPr>
            <a:r>
              <a:rPr lang="en-US" dirty="0"/>
              <a:t>Arrange the visuals to create an interactive analytical dashboard.</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0" y="1360958"/>
            <a:ext cx="4161453" cy="4777273"/>
          </a:xfrm>
        </p:spPr>
        <p:txBody>
          <a:bodyPr vert="horz" lIns="91440" tIns="45720" rIns="91440" bIns="45720" rtlCol="0">
            <a:normAutofit fontScale="85000" lnSpcReduction="10000"/>
          </a:bodyPr>
          <a:lstStyle/>
          <a:p>
            <a:pPr marL="0" indent="0">
              <a:buNone/>
            </a:pPr>
            <a:r>
              <a:rPr lang="en-US" sz="2400" dirty="0"/>
              <a:t>The developed dashboard successfully visualizes the healthcare infrastructure data of AIIMS hospitals in India.</a:t>
            </a:r>
          </a:p>
          <a:p>
            <a:pPr marL="0" indent="0">
              <a:buNone/>
            </a:pPr>
            <a:r>
              <a:rPr lang="en-US" sz="2400" dirty="0"/>
              <a:t>The dashboard provides:</a:t>
            </a:r>
          </a:p>
          <a:p>
            <a:r>
              <a:rPr lang="en-US" sz="2400" dirty="0"/>
              <a:t>Total oxygen beds: </a:t>
            </a:r>
            <a:r>
              <a:rPr lang="en-US" sz="2400" b="1" dirty="0"/>
              <a:t>2006</a:t>
            </a:r>
            <a:endParaRPr lang="en-US" sz="2400" dirty="0"/>
          </a:p>
          <a:p>
            <a:r>
              <a:rPr lang="en-US" sz="2400" dirty="0"/>
              <a:t>Total ICU beds: </a:t>
            </a:r>
            <a:r>
              <a:rPr lang="en-US" sz="2400" b="1" dirty="0"/>
              <a:t>918</a:t>
            </a:r>
            <a:endParaRPr lang="en-US" sz="2400" dirty="0"/>
          </a:p>
          <a:p>
            <a:r>
              <a:rPr lang="en-US" sz="2400" dirty="0"/>
              <a:t>Total operational beds: </a:t>
            </a:r>
            <a:r>
              <a:rPr lang="en-US" sz="2400" b="1" dirty="0"/>
              <a:t>2924</a:t>
            </a:r>
            <a:endParaRPr lang="en-US" sz="2400" dirty="0"/>
          </a:p>
          <a:p>
            <a:r>
              <a:rPr lang="en-US" sz="2400" dirty="0"/>
              <a:t>Total AIIMS hospitals analyzed: </a:t>
            </a:r>
            <a:r>
              <a:rPr lang="en-US" sz="2400" b="1" dirty="0"/>
              <a:t>13</a:t>
            </a:r>
            <a:endParaRPr lang="en-US" sz="2400" dirty="0"/>
          </a:p>
          <a:p>
            <a:r>
              <a:rPr lang="en-US" sz="2400" dirty="0"/>
              <a:t>The dashboard enables users to compare hospital capacities, analyze bed distribution, and identify hospitals with higher healthcare infrastructure availability.</a:t>
            </a:r>
          </a:p>
          <a:p>
            <a:pPr marL="0" indent="0">
              <a:buNone/>
            </a:pPr>
            <a:endParaRPr lang="en-US" sz="2200" dirty="0"/>
          </a:p>
        </p:txBody>
      </p:sp>
      <p:pic>
        <p:nvPicPr>
          <p:cNvPr id="5" name="Picture 4">
            <a:extLst>
              <a:ext uri="{FF2B5EF4-FFF2-40B4-BE49-F238E27FC236}">
                <a16:creationId xmlns:a16="http://schemas.microsoft.com/office/drawing/2014/main" id="{341F1A44-A3E6-67B2-6C76-31519C8F8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1667" y="1360958"/>
            <a:ext cx="7617764" cy="4416312"/>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2400" dirty="0"/>
              <a:t>The Power BI dashboard provides a clear and interactive visualization of healthcare infrastructure data across AIIMS hospitals. By transforming raw data into meaningful insights, the dashboard helps stakeholders understand hospital capacity, resource distribution, and infrastructure availability.</a:t>
            </a:r>
          </a:p>
          <a:p>
            <a:r>
              <a:rPr lang="en-US" sz="2400" dirty="0"/>
              <a:t>This analytical approach improves data interpretation and supports better planning and management of healthcare infrastructure.</a:t>
            </a: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buNone/>
            </a:pPr>
            <a:r>
              <a:rPr lang="en-US" sz="2400" dirty="0"/>
              <a:t>The project can be further enhanced by:</a:t>
            </a:r>
          </a:p>
          <a:p>
            <a:r>
              <a:rPr lang="en-US" sz="2400" dirty="0"/>
              <a:t>Integrating </a:t>
            </a:r>
            <a:r>
              <a:rPr lang="en-US" sz="2400" b="1" dirty="0"/>
              <a:t>real-time hospital infrastructure data</a:t>
            </a:r>
            <a:endParaRPr lang="en-US" sz="2400" dirty="0"/>
          </a:p>
          <a:p>
            <a:r>
              <a:rPr lang="en-US" sz="2400" dirty="0"/>
              <a:t>Expanding the dataset to include </a:t>
            </a:r>
            <a:r>
              <a:rPr lang="en-US" sz="2400" b="1" dirty="0"/>
              <a:t>more hospitals and states</a:t>
            </a:r>
            <a:endParaRPr lang="en-US" sz="2400" dirty="0"/>
          </a:p>
          <a:p>
            <a:r>
              <a:rPr lang="en-US" sz="2400" dirty="0"/>
              <a:t>Adding </a:t>
            </a:r>
            <a:r>
              <a:rPr lang="en-US" sz="2400" b="1" dirty="0"/>
              <a:t>time-series analysis</a:t>
            </a:r>
            <a:r>
              <a:rPr lang="en-US" sz="2400" dirty="0"/>
              <a:t> to track infrastructure growth</a:t>
            </a:r>
          </a:p>
          <a:p>
            <a:r>
              <a:rPr lang="en-US" sz="2400" dirty="0"/>
              <a:t>Incorporating </a:t>
            </a:r>
            <a:r>
              <a:rPr lang="en-US" sz="2400" b="1" dirty="0"/>
              <a:t>patient admission and bed occupancy data</a:t>
            </a:r>
            <a:endParaRPr lang="en-US" sz="2400" dirty="0"/>
          </a:p>
          <a:p>
            <a:r>
              <a:rPr lang="en-US" sz="2400" dirty="0"/>
              <a:t>Developing predictive models to forecast healthcare demand</a:t>
            </a:r>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11" name="Rectangle 8">
            <a:extLst>
              <a:ext uri="{FF2B5EF4-FFF2-40B4-BE49-F238E27FC236}">
                <a16:creationId xmlns:a16="http://schemas.microsoft.com/office/drawing/2014/main" id="{12BE35BA-2E9D-51D6-4903-239C501A8CB8}"/>
              </a:ext>
            </a:extLst>
          </p:cNvPr>
          <p:cNvSpPr>
            <a:spLocks noGrp="1" noChangeArrowheads="1"/>
          </p:cNvSpPr>
          <p:nvPr>
            <p:ph idx="1"/>
          </p:nvPr>
        </p:nvSpPr>
        <p:spPr bwMode="auto">
          <a:xfrm>
            <a:off x="0" y="1125276"/>
            <a:ext cx="11961845"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Microsoft Power BI Documentation</a:t>
            </a:r>
          </a:p>
          <a:p>
            <a:pPr eaLnBrk="0" fontAlgn="base" hangingPunct="0">
              <a:lnSpc>
                <a:spcPct val="100000"/>
              </a:lnSpc>
              <a:spcBef>
                <a:spcPct val="0"/>
              </a:spcBef>
              <a:spcAft>
                <a:spcPct val="0"/>
              </a:spcAft>
            </a:pPr>
            <a:r>
              <a:rPr lang="en-US" sz="2000" dirty="0"/>
              <a:t>The National Data and Analytics Platform (NDAP) - </a:t>
            </a:r>
            <a:r>
              <a:rPr lang="en-US" altLang="en-US" sz="1800" dirty="0">
                <a:latin typeface="Arial" panose="020B0604020202020204" pitchFamily="34" charset="0"/>
                <a:hlinkClick r:id="rId2"/>
              </a:rPr>
              <a:t>https://ndap.niti.gov.in/</a:t>
            </a:r>
            <a:endParaRPr lang="en-US" altLang="en-US" sz="1800" dirty="0">
              <a:latin typeface="Arial" panose="020B0604020202020204" pitchFamily="34" charset="0"/>
            </a:endParaRPr>
          </a:p>
          <a:p>
            <a:pPr eaLnBrk="0" fontAlgn="base" hangingPunct="0">
              <a:lnSpc>
                <a:spcPct val="100000"/>
              </a:lnSpc>
              <a:spcBef>
                <a:spcPct val="0"/>
              </a:spcBef>
              <a:spcAft>
                <a:spcPct val="0"/>
              </a:spcAft>
            </a:pPr>
            <a:r>
              <a:rPr lang="en-US" sz="2000" dirty="0"/>
              <a:t>DATASET = Operationalization of dedicated hospital beds, and beds with ventilators - https://ndap.niti.gov.in/dataset/1358</a:t>
            </a:r>
            <a:endParaRPr lang="en-US" altLang="en-US" sz="2000" dirty="0">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AICTE Internship Program Resources</a:t>
            </a:r>
          </a:p>
          <a:p>
            <a:pPr eaLnBrk="0" fontAlgn="base" hangingPunct="0">
              <a:lnSpc>
                <a:spcPct val="100000"/>
              </a:lnSpc>
              <a:spcBef>
                <a:spcPct val="0"/>
              </a:spcBef>
              <a:spcAft>
                <a:spcPct val="0"/>
              </a:spcAft>
            </a:pPr>
            <a:r>
              <a:rPr lang="en-US" altLang="en-US" sz="1800" dirty="0">
                <a:latin typeface="Arial" panose="020B0604020202020204" pitchFamily="34" charset="0"/>
              </a:rPr>
              <a:t>Power BI Report Link ( </a:t>
            </a:r>
            <a:r>
              <a:rPr lang="en-US" altLang="en-US" sz="1800" dirty="0" err="1">
                <a:latin typeface="Arial" panose="020B0604020202020204" pitchFamily="34" charset="0"/>
              </a:rPr>
              <a:t>Github</a:t>
            </a:r>
            <a:r>
              <a:rPr lang="en-US" altLang="en-US" sz="1800" dirty="0">
                <a:latin typeface="Arial" panose="020B0604020202020204" pitchFamily="34" charset="0"/>
              </a:rPr>
              <a:t> ) - </a:t>
            </a:r>
            <a:r>
              <a:rPr lang="en-US" altLang="en-US" sz="1800" dirty="0">
                <a:latin typeface="Arial" panose="020B0604020202020204" pitchFamily="34" charset="0"/>
                <a:hlinkClick r:id="rId3"/>
              </a:rPr>
              <a:t>https://github.com/alwinsudheesh/AIIMS-Healthcare-Infrastructure-PowerBI-Dashboard/blob/main/AIIMS_Healthcare_Infrastructure_Dashboard.pbix</a:t>
            </a:r>
            <a:endParaRPr lang="en-US" altLang="en-US" sz="1800" dirty="0">
              <a:latin typeface="Arial" panose="020B0604020202020204" pitchFamily="34" charset="0"/>
            </a:endParaRPr>
          </a:p>
          <a:p>
            <a:pPr eaLnBrk="0" fontAlgn="base" hangingPunct="0">
              <a:lnSpc>
                <a:spcPct val="100000"/>
              </a:lnSpc>
              <a:spcBef>
                <a:spcPct val="0"/>
              </a:spcBef>
              <a:spcAft>
                <a:spcPct val="0"/>
              </a:spcAft>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665</Words>
  <Application>Microsoft Office PowerPoint</Application>
  <PresentationFormat>Widescreen</PresentationFormat>
  <Paragraphs>77</Paragraphs>
  <Slides>11</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11</vt:i4>
      </vt:variant>
    </vt:vector>
  </HeadingPairs>
  <TitlesOfParts>
    <vt:vector size="16" baseType="lpstr">
      <vt:lpstr>Aptos</vt:lpstr>
      <vt:lpstr>Arial</vt:lpstr>
      <vt:lpstr>Calibri</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Alwin Sudheesh</cp:lastModifiedBy>
  <cp:revision>101</cp:revision>
  <dcterms:created xsi:type="dcterms:W3CDTF">2024-05-21T11:55:07Z</dcterms:created>
  <dcterms:modified xsi:type="dcterms:W3CDTF">2026-03-06T09:56:43Z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